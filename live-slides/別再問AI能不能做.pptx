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直播開始前停在這張。開播後唸一句：「先掃這個 QR 或到 exam.zeabur.app 輸入加入碼 L5XML8，等一下每一段結束會出一題。」然後按 → 進封面。QR 由 scripts/make_exam_qr.py 產生，換碼要同步改這頁與 P8 的加入碼文字。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開場白：今天不談模型、不談工具比較，只談一件事——你怎麼問。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真實職缺（台積電）當開場鉤子。重點唸「資歷需求」那行：熟悉 AI Coding 工具寫在門檻裡、不在加分欄。加分欄的 Harness/Loop Engineering 先不解釋——留懸念：「這兩個詞是什麼？聽完今天你就會。」等 Agentic Coding 流程頁再回收。90 秒內講完。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慢慢講，這是內容鉤子（上一頁是切身鉤子）。講完停兩秒再翻頁。強調：同一天、同一個模型、同一個需求。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這是整場的軸。收尾會再說一次。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先建立整體觀：agentic coding 不是一問一答，而是 AI 代理自己跑完整個開發迴圈。人的角色從「逐行下指令」變成「審查每一站的產物」。四站就是這個迴圈的四個檢查點。★ 回收開場職缺的懸念：「這個迴圈，就是那張職缺加分欄寫的 Loop Engineering——給 AI 跑這個迴圈的執行環境，就是 Harness。」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講透因果鏈：模糊提問 → AI 腦補規格 → 生成偏差 → 反覆除錯。每一次除錯來回都是重跑一整圈「生成→驗證→修正」。正確的提示詞把錯誤攔在生成之前——這就是降低除錯次數的原理。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攤開地圖。說明規則：每站一句對比、一段原理、一個產物、一題測驗。反例只用講的不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唸出對價：「留 Email 的話，今天所有提示詞全文、SOP 範本、資安稽核清單，我整包寄給你。」Q0 開出來後不解說，只說「這張圖等一下收尾會再出現一次」。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 1 開始。9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「能不能」是 yes/no 題。模型有討好傾向，面對可行性幾乎永遠答『可以』，而且給你一個聽起來很合理的技術棧。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重點唸最後一句「最沒把握的三件事」。這通常是整份報告最值錢的一段。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這是真的跑出來的。強調 S/M/L 分級逼它把工作量攤開。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全站最重要的一張。強調：這三件事是我沒想到要問的。第一項後來真的讓我回頭改了規格。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Q1，60 秒作答 + 30 秒解說。解說重點：A、B、D 都是一句話能回答完的問題，AI 就真的只給你一句話。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 2 開始。9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不先分析，AI 會直接套訓練資料裡最常見的組合，那不見得符合你的限制。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關鍵：把限制講出來，選型才有意義。沒有限制的選型建議等於沒建議。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這張是站 2 的精華。「什麼情況下我會改推薦」讓你知道這個決定的有效邊界——限制變了，推薦就該變。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「先不要寫程式碼」這句話很重要。開發計畫是便宜的中間產物：計畫改一行，程式碼改一天。第四項是關鍵：寫計畫時就要求用 TDD 排，驗收標準直接變成測試案例清單，站 3 的紅燈就是從這張清單來的。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注意驗收標準的寫法：每一條都是可以打勾的判準，不是「功能正常」。這批標準等一下會直接變成測試。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Q2。解說：不是為了省，是為了讓錯誤發生在便宜的地方。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 3 開始。11 分鐘，全場最大段。三層遞進。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一句換成三層，而且是有順序的三層。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為什麼要它先寫測試？因為 AI 寫完程式再補測試，它會寫出「證明自己對」的測試——測試變成實作的鏡子，失去驗證意義。最後那句約束不能少，否則它會一口氣寫完然後告訴你都過了。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紅燈。失敗原因是功能未實作，不是打錯字——這件事要唸出來。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全場最強的一張。講法：「我根本沒給你看任何程式碼，但你現在已經知道這個系統的所有規則了。」停三秒讓觀眾讀。測試不是驗證工具，是規格文件。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不做現場操作。口頭帶過情境：「完成前置任務 → 紅底消失、下一步建議自動跳動。這個流程我不想每次都手動點。」下一頁直接播錄影。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錄影展示：進入本頁影片會自動從頭播放（約 6 秒）。旁白跟著畫面講：瀏覽器自己開、自己填、自己點——相依阻塞 → 完成前置 → 阻塞自動解除、下一步建議跳動。播完切下一張。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跑完留下這些。10 張，一次執行的完整軌跡。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這一招最有「哇」感：測試腳本順便產出了教育訓練文件。同一次執行，一份給機器看（回歸測試），一份給人看（SOP）。而且 SOP 永遠跟程式同步，因為它是從實際跑過的畫面生出來的。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永遠跟程式同步——因為它是從實際跑過的畫面生出來的，不是手寫的。流程改了、測試會改，SOP 下次重跑就自動更新。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加碼兩頁，各 30 秒。第一頁：稽核不是只出一份文字報告——走查腳本截完圖，再用一支小腳本把問題「畫」在截圖上：紅框圈住位置、編號＋問題代碼＋一句說明。這是我另一個專案的真實稽核輸出：會議頁的 M-1 唯一動作是外連樣式、G-2 空狀態沒有下一步按鈕。圖上有編號，報告文字就能對得回來。下一頁看修完的樣子。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第二頁：上一頁紅框 G-2 修掉之後長這樣。同一支走查腳本，修正前跑一次、修正後再跑一次，兩張截圖並排就是 UI 差異證據。這是我另一個專案 UX 稽核的真實輸出：會議頁空狀態原本只有一句灰字，稽核說沒有下一步；修完重跑，右邊多了「建立預約連結」主按鈕。不用看程式碼 diff，畫面自己說話。30 秒帶過。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Q3。解說：先寫程式再補測試，AI 傾向寫出證明自己對的測試。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 4 開始。6 分鐘，兩層基準各約 3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沒有基準的「檢查漏洞」，AI 只會回泛泛而談的三五點。給它清單，就變成有覆蓋率可談的逐項稽核。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關鍵在最後一句——逼它交出覆蓋率，而不是只挑幾個好講的講。清單版本要講：OWASP 2025 版新增 A03 供應鏈、A10 例外處理，SSRF 併進 A01。用 2021 版問會漏掉兩塊。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真的有抓到東西，不是全綠。而且「未命中也要列出理由」才是覆蓋率的證據——只列命中項目的報告，你無法判斷它查得仔細還是敷衍。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這是實測驗證過的：蓄意毀損資料檔後呼叫 API，500 回應把檔案系統路徑吐出來。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第二層。0 漏洞但 5 個直接相依帶進 106 個套件——這是「今天乾淨」。沒有任何機制會在明天有新漏洞時通知你。這正對應 2025 新增的 A03。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秒帶過。重點講一句：資訊不是消失，是換了去處。想看現場修，Q&amp;A 我做給你看。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誠實話，建立信任用。不要跳過。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Q4。解說：A、B 沒有基準，D 是另一件事。只有 C 逼得出覆蓋率。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把開場 Q0 的統計圖叫出來。講：「開場的時候，選 A、B、C 的加起來佔了 XX%。這三句話，正好就是今天四站要換掉的三句。」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這張讓觀眾截圖。停久一點，說「這張可以拍」。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主張回扣。這頁不顯示 Q5 文字，講完直接在 EXAM 開 Q5 離場題（開著就好，散場前填）。接著進課程介紹段（約 10 分鐘），最後才是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過場，30 秒。語氣：不是廣告時間，是「今天講的東西有完整版」。今天四站示範的是提問方法，課程做的是把這套方法用在一個真的產品上，從第一行程式寫到上線。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分鐘。重點：不是聊天機器人 demo，是一條完整產品線。每一章的產出都是下一章的地基，學完手上留下的是一套可展示、可上線的系統。AI 只負責摘要、分類、建議；金額、權限這些硬資料全部由 Java domain service 提供——這就是「企業級」跟「demo」的差別。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 分鐘。不逐條唸，用手勢分三段講：1-5 是全端地基（後端、資料庫、安全、前端），6-7 是 AI 能力（ChatClient、RAG、MCP），8-9 是驗收與上線。強調 Unit 9：大多數課停在 localhost，這門課教你真的讓外網連進來。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分鐘。兩個重點：① 技術棧是 2026 年的最新基準，不是教舊版；② 今天四站的提問方法，課程每一章都在用——可行性、選型、TDD、稽核不是口號，是每章的固定工序。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分鐘。重點講最後一條：沒程式經驗也能上——教學會帶基礎概念，而且今天整場示範的就是「用提示詞做出東西」，課程把這件事做完整。對到觀眾的自我認同：從零基礎到會寫 API 但沒做過完整產品的人都適合。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停留最久的一張，至少 60 秒讓大家掃碼、截圖。唸出網址 hahow.in/cr/ai-full-stack。講完才進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10 分鐘。備料：想看現場修資安問題？現在做給你看。模型差異？這四招與模型無關。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1883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直播即將開始，先掃碼加入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1216723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xam-joi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59623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46663"/>
            <a:ext cx="10728960" cy="507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exam.zeabur.app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8037" y="5281612"/>
            <a:ext cx="723900" cy="30480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08037" y="5342572"/>
            <a:ext cx="7239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加入碼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817" y="5237416"/>
            <a:ext cx="166914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96"/>
              </a:lnSpc>
            </a:pPr>
            <a:r>
              <a:rPr sz="25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L5XML8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28728"/>
            <a:ext cx="1072896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每一段結束出一題．留 Email 可收到今天所有提示詞全文＋SOP 範本＋資安稽核清單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待機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 / 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6866"/>
            <a:ext cx="1072896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sz="420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別再問 AI「能不能做」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92018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讓 AI 交出可審查產物的四個提問轉換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50792"/>
            <a:ext cx="1072896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46"/>
              </a:lnSpc>
            </a:pPr>
            <a:r>
              <a:rPr sz="13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從可行性評估到資安稽核，一小時走完 AI 開發生命週期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 / 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8032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開場前，先看一張真的職缺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12872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579572"/>
            <a:ext cx="7327392" cy="809244"/>
          </a:xfrm>
          <a:prstGeom prst="roundRect">
            <a:avLst>
              <a:gd name="adj" fmla="val 11299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1579572"/>
            <a:ext cx="45720" cy="809244"/>
          </a:xfrm>
          <a:prstGeom prst="rect">
            <a:avLst/>
          </a:prstGeom>
          <a:solidFill>
            <a:srgbClr val="2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1686252"/>
            <a:ext cx="6885432" cy="595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6"/>
              </a:lnSpc>
            </a:pPr>
            <a:r>
              <a:rPr sz="13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職缺</a:t>
            </a:r>
            <a:r>
              <a:rPr sz="138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38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半導體大廠 軟體工程師（後端 80%／前端 20%）｜Java Spring Boot / React｜新竹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0256"/>
            <a:ext cx="7327392" cy="809244"/>
          </a:xfrm>
          <a:prstGeom prst="roundRect">
            <a:avLst>
              <a:gd name="adj" fmla="val 11299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2480256"/>
            <a:ext cx="45720" cy="809244"/>
          </a:xfrm>
          <a:prstGeom prst="rect">
            <a:avLst/>
          </a:prstGeom>
          <a:solidFill>
            <a:srgbClr val="2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2586936"/>
            <a:ext cx="6885432" cy="595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6"/>
              </a:lnSpc>
            </a:pPr>
            <a:r>
              <a:rPr sz="13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資歷需求</a:t>
            </a:r>
            <a:r>
              <a:rPr sz="138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38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6～10 年全端經驗・快速理解需求・獨立解決問題・</a:t>
            </a:r>
            <a:r>
              <a:rPr sz="13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熟悉 AI Coding 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0940"/>
            <a:ext cx="7327392" cy="809244"/>
          </a:xfrm>
          <a:prstGeom prst="roundRect">
            <a:avLst>
              <a:gd name="adj" fmla="val 11299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380940"/>
            <a:ext cx="45720" cy="809244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3487620"/>
            <a:ext cx="6885432" cy="595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6"/>
              </a:lnSpc>
            </a:pPr>
            <a:r>
              <a:rPr sz="13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加分</a:t>
            </a:r>
            <a:r>
              <a:rPr sz="13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3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熟悉 Spring Boot 生態系・</a:t>
            </a:r>
            <a:r>
              <a:rPr sz="13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AI Coding 能力強（Harness／Loop Engineering）</a:t>
            </a:r>
          </a:p>
        </p:txBody>
      </p:sp>
      <p:pic>
        <p:nvPicPr>
          <p:cNvPr id="13" name="Picture 12" descr="job-ad-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791" y="1579572"/>
            <a:ext cx="3218688" cy="24994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1791" y="4139999"/>
            <a:ext cx="3218688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徵才訊息原文截圖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9559"/>
            <a:ext cx="10728960" cy="673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「熟悉 AI Coding 工具」寫在</a:t>
            </a:r>
            <a:r>
              <a:rPr sz="156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資歷需求</a:t>
            </a: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，不在加分欄——AI 協作已經是門檻，不是亮點</a:t>
            </a:r>
          </a:p>
          <a:p>
            <a:pPr algn="l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加分欄的 </a:t>
            </a:r>
            <a:r>
              <a:rPr sz="156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Harness／Loop Engineering</a:t>
            </a: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 是什麼？</a:t>
            </a:r>
            <a:r>
              <a:rPr sz="156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聽完今天這一小時，你就會了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16527"/>
            <a:ext cx="10728960" cy="701040"/>
          </a:xfrm>
          <a:prstGeom prst="roundRect">
            <a:avLst>
              <a:gd name="adj" fmla="val 10869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1520" y="5316527"/>
            <a:ext cx="38100" cy="701040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020" y="5423207"/>
            <a:ext cx="10347960" cy="48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20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知識點｜框架 × AI Coding 是相乘、不是相加</a:t>
            </a: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：框架深度（Spring Boot／React）讓你</a:t>
            </a:r>
            <a:r>
              <a:rPr sz="120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審查得動</a:t>
            </a: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 AI 交出的產物；AI Coding 讓你的框架經驗</a:t>
            </a:r>
            <a:r>
              <a:rPr sz="120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規模化</a:t>
            </a: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。只會框架＝產出慢；只會 AI＝驗收不了它寫的東西——所以企業兩個都要。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 / 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28319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同一個需求，同一天，同一個模型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5315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057019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057019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209419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A 問：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「這個功能能不能做？」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61691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2861691"/>
            <a:ext cx="45720" cy="667512"/>
          </a:xfrm>
          <a:prstGeom prst="rect">
            <a:avLst/>
          </a:prstGeom>
          <a:solidFill>
            <a:srgbClr val="AEB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014091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得到一句「可以做，建議用 React」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66363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666363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3818763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B 問：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「幫我做可行性評估報告」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71035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471035"/>
            <a:ext cx="45720" cy="667512"/>
          </a:xfrm>
          <a:prstGeom prst="rect">
            <a:avLst/>
          </a:prstGeom>
          <a:solidFill>
            <a:srgbClr val="AEB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5360" y="4623435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得到一份含難度分級、風險清單、驗證順序的文件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75707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差別不在模型，在問法。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 / 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52600"/>
            <a:ext cx="10728960" cy="2031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決定 AI 交付品質的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不是提示詞寫得漂不漂亮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是你有沒有要求它</a:t>
            </a:r>
            <a:r>
              <a:rPr sz="25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交出一份可以被審查的產物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49852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「能不能做」換來一句話——沒得反駁、沒得追蹤、沒得改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「可行性評估報告」換來一份文件——可以開會、可以被打槍、可以修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 /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339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先看整個流程：Agentic 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1317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293239"/>
            <a:ext cx="176784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24913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2750439"/>
            <a:ext cx="16459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理解需求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14667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把模糊想法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變成規格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895219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293239"/>
            <a:ext cx="176784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32760" y="24913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2760" y="2750439"/>
            <a:ext cx="16459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760" y="314667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拆解步驟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訂驗收標準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95219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293239"/>
            <a:ext cx="176784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73040" y="24913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3040" y="2750439"/>
            <a:ext cx="16459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3040" y="314667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產出程式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與文件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895219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293239"/>
            <a:ext cx="176784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3320" y="24913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320" y="2750439"/>
            <a:ext cx="16459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3320" y="314667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測試、實跑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稽核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95219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293239"/>
            <a:ext cx="176784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53600" y="24913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600" y="2750439"/>
            <a:ext cx="16459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600" y="314667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依據證據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迭代到交付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76319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AI 不是自動販賣機，是會自己跑完這個迴圈的「代理」（agent）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67453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1520" y="4767453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2020" y="4874133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知識點｜Agentic Coding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：讓 AI 代理自主完成「規劃 → 生成 → 驗證 → 修正」的開發迴圈，人的角色從逐行下指令變成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審查每一站的產物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。今天的四站，就是這個迴圈的四個檢查點——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這個迴圈，就是開場那張職缺加分欄的 Loop Engineering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6 / 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2870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問法，決定你除錯幾次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5354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20980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❌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模糊提問 → AI 自行腦補規格 → 生成偏差 → 除錯來回 5 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6207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286207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01447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先評估、先計畫、先寫測試 → 規格先對齊 → 除錯來回 1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34384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每一次除錯來回，都是重跑一整圈「生成 → 驗證 → 修正」。</a:t>
            </a:r>
          </a:p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除錯次數不是運氣，是提問品質的函數。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27092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1520" y="4927092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2020" y="5033772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知識點｜錯誤成本放大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：錯誤越晚被發現，修正成本越高——需求期修一個誤解只要改一句話，寫完程式才發現要改一天，上線後發現再放大十倍。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正確的提示詞，就是把錯誤攔在最便宜的階段。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7 / 54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08023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今天走這四站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32863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812923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3011042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270123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666363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能不能做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可行性評估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110" y="3414903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870" y="2812923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92830" y="3011042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2830" y="3270123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設計期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2830" y="3666363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幫我寫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選型＋計畫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0" y="3414903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2220" y="2812923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3180" y="3011042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180" y="3270123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開發驗收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180" y="3666363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幫我測試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TDD＋E2E＋SOP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810" y="3414903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570" y="2812923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3530" y="3011042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3530" y="3270123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上線前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3530" y="3666363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查漏洞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逐項稽核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6003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每站：一句對比 → 一段原理 → 一個產物 → 一題測驗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8 / 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41819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先掃碼加入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146665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xam-joi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9079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1862899"/>
            <a:ext cx="844296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sz="21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exam.zeabur.app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429827"/>
            <a:ext cx="723900" cy="30480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017520" y="2490787"/>
            <a:ext cx="7239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加入碼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4300" y="2394775"/>
            <a:ext cx="160001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952"/>
              </a:lnSpc>
            </a:pPr>
            <a:r>
              <a:rPr sz="246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L5XML8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967799"/>
            <a:ext cx="844296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5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每一段結束我出一題</a:t>
            </a:r>
          </a:p>
          <a:p>
            <a:pPr algn="l">
              <a:lnSpc>
                <a:spcPts val="2550"/>
              </a:lnSpc>
            </a:pPr>
            <a:r>
              <a:rPr sz="15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留 Email，今天所有提示詞全文＋SOP 範本＋資安稽核清單，我整包寄給你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9633" y="3912679"/>
            <a:ext cx="992733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599633" y="3973639"/>
            <a:ext cx="992733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Q0 暖身題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46079"/>
            <a:ext cx="10728960" cy="507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你現在最常用哪一句問 AI 幫你寫程式？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60632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A.「幫我寫一個 XXX」 B.「這個能不能做？」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C.「幫我看看有沒有問題」 D. 我會先請它分析、寫計畫，才動手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9 / 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549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第一站：想法期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4033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能不能做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可行性評估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1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8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928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28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設計期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28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幫我寫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選型＋計畫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22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31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1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開發驗收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1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幫我測試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TDD＋E2E＋SOP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8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5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35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35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上線前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35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查漏洞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逐項稽核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10 / 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1346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換一句話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3830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042160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042160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19456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❌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這個功能能不能做？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4683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284683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299923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幫我做這個需求的可行性評估報告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9624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yes/no 題只會換來 yes。</a:t>
            </a:r>
          </a:p>
          <a:p>
            <a:pPr algn="l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指定產出格式，它才非攤開不可。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42332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1520" y="4942332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2020" y="5049012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知識點｜Sycophancy（討好傾向）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：LLM 經人類回饋訓練（RLHF），傾向給出使用者想聽的答案。面對 yes/no 的可行性問題，它幾乎永遠答「可以」——不是它評估過，是它想讓你滿意。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11 /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82851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提示詞（可直接複製）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7483"/>
            <a:ext cx="10728960" cy="3255264"/>
          </a:xfrm>
          <a:prstGeom prst="roundRect">
            <a:avLst>
              <a:gd name="adj" fmla="val 2340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119883"/>
            <a:ext cx="10363200" cy="2950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針對以下需求，幫我做一份可行性評估報告：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【貼上需求描述】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報告需包含：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1. 技術可行性：現有技術能否達成，需要哪些關鍵元件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2.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難易度分級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：把需求拆成子項目，每項標 S / M / L 並說明理由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3.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風險與未知數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：哪些地方我現在無法確定，可能會爆的點在哪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4. 前置資源：需要的環境、帳號、授權、資料、外部服務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5.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建議驗證順序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：哪一塊最不確定，該先用半天做個丟棄式小原型（spike）證明走得通，為什麼是它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最後請標出：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你對這份評估最沒把握的三件事。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12 /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feasibility-diffi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54" y="901446"/>
            <a:ext cx="7639291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它不能再用一句「可以做」蓋過去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13 /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feasibility-uncertain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48206"/>
            <a:ext cx="9144000" cy="3032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7240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它問了我沒想到要問的問題——第一項讓我回頭改了規格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14 /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84468" y="1847469"/>
            <a:ext cx="423062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84468" y="1908428"/>
            <a:ext cx="423062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58949"/>
            <a:ext cx="1072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你想確認一個功能做不做得出來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下列哪個提問最可能讓 AI 把「風險」講出來？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38670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3653408"/>
            <a:ext cx="10728960" cy="1204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A. 這個功能能不能做？ B. 這個功能難不難？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C. 幫我做可行性評估報告：技術可行性、難易度分級、風險與未知數、建議驗證順序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D. 這個功能大概要多久？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1 想法期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15 / 54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549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第二站：設計期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4033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能不能做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可行性評估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1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8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928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28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設計期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28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幫我寫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選型＋計畫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22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31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1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開發驗收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1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幫我測試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TDD＋E2E＋SOP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8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5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35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35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上線前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35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查漏洞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逐項稽核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16 / 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9768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換三句話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25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326386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326386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478786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❌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幫我用 React 寫一個報修系統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1057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3131057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283458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先做選型分析（列候選、優缺點、適用情境、推薦與理由）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5729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935729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408813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再寫開發計畫（模組、里程碑、驗收標準，每階段用 TDD）</a:t>
            </a:r>
            <a:r>
              <a:rPr sz="16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先不要寫程式碼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4040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74040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5360" y="489280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才照計畫實作第一階段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17 /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1392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① 選型分析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6024"/>
            <a:ext cx="10728960" cy="2718816"/>
          </a:xfrm>
          <a:prstGeom prst="roundRect">
            <a:avLst>
              <a:gd name="adj" fmla="val 2802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68424"/>
            <a:ext cx="10363200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我要做【需求】。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我的限制是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開發環境：【例：Windows + PowerShell】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團隊技能：【例：熟 Java，前端只有一人】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部署環境：【例：公司內網，不能連外】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時程與人力：【…】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請列出 2-4 個可行的技術選型方案，每個方案說明：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優點、缺點、適用情境、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在我上述限制下的契合度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最後給出你的推薦與理由，並說明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什麼情況下你會改推薦別的方案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24400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4724400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2020" y="4831080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知識點｜約束前置（Constraint-first）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：不先給限制，AI 只會套訓練資料裡出現最多次的組合。先把環境、技能、時程寫進提示詞，等於把驗收條件搬到生成之前。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18 /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tech-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96696"/>
            <a:ext cx="9144000" cy="43357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2391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比推薦本身更重要：這個決定的有效邊界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19 / 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35989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② 開發計畫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621"/>
            <a:ext cx="10728960" cy="2718816"/>
          </a:xfrm>
          <a:prstGeom prst="roundRect">
            <a:avLst>
              <a:gd name="adj" fmla="val 2802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73021"/>
            <a:ext cx="10363200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採用【選定方案】。請寫一份開發計畫：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1. 模組拆解：每個模組的職責與相依關係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2. 里程碑：分幾個階段，每階段的產出是什麼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3.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每階段的驗收標準：怎樣算做完（要可驗證，不要「功能正常」這種寫法）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4.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每階段用 TDD 進行：把該階段的驗收標準直接寫成測試案例清單（測試名稱＝驗收標準），實作順序是先讓測試紅、再做到綠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5. 風險點與對應的先行驗證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先不要寫程式碼。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68037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計畫改一行，程式碼改一天。驗收標準寫成測試，站 3 就不用重新想。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20 /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milestone-accep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43" y="901446"/>
            <a:ext cx="7399912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每一條都能打勾——這批標準等一下會直接變成測試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21 /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84468" y="1796796"/>
            <a:ext cx="423062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84468" y="1857756"/>
            <a:ext cx="423062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08276"/>
            <a:ext cx="10728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在請 AI 實作前，先加一句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「先不要寫程式碼，先給我開發計畫」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主要好處是？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83895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4105655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A. 節省 token B. 計畫是便宜的中間產物——計畫改一行，程式碼改一天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C. AI 寫程式速度太慢 D. 避免版權爭議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2 設計期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22 / 54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549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第三站：開發驗收期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4033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能不能做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可行性評估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1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8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928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28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設計期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28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幫我寫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選型＋計畫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22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31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1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開發驗收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1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幫我測試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TDD＋E2E＋SOP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8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5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35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35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上線前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35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查漏洞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逐項稽核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23 /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9768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一句話換成三層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25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326386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326386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478786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❌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幫我測試程式有沒有問題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1057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3131057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283458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3-1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開發時就 TDD：先寫測試 → 紅 → 實作到綠 → 重構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5729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935729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408813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3-2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完工後 Playwright E2E：寫成可重跑的腳本檔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4040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74040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5360" y="489280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3-3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E2E 每步截圖 → 用這批圖產出 SOP 操作手冊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24 / 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76908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3-1 開發時就 TDD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61540"/>
            <a:ext cx="10728960" cy="2182367"/>
          </a:xfrm>
          <a:prstGeom prst="roundRect">
            <a:avLst>
              <a:gd name="adj" fmla="val 3491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13941"/>
            <a:ext cx="10363200" cy="1877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用 TDD 實作【功能】：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1.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先寫測試，跑一次，讓我看到它是紅的（失敗訊息貼給我）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2. 再寫最小實作讓測試轉綠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3. 最後重構，重構後測試必須維持綠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測試要涵蓋：正常路徑、邊界值、錯誤分支。</a:t>
            </a:r>
          </a:p>
          <a:p>
            <a:pPr algn="l">
              <a:lnSpc>
                <a:spcPts val="2112"/>
              </a:lnSpc>
            </a:pP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在我確認紅燈之前，不要寫實作程式碼。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87748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寫完程式再補的測試，是實作的鏡子，不是規格。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78882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31520" y="4778882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2020" y="4885563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知識點｜TDD 紅綠重構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：紅燈證明測試真的在驗證（不是永遠會過），綠燈證明實作滿足規格。先測試後實作，能防止 AI 寫出「證明自己對」的過擬合測試。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25 /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tdd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31926"/>
            <a:ext cx="8381999" cy="4465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868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先看它失敗，而且是為了對的理由失敗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26 / 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tdd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336" y="901446"/>
            <a:ext cx="6603326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我沒給你看任何程式碼——但你已經知道這個系統的所有規則了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27 /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96593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3-2 完工後 E2E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81225"/>
            <a:ext cx="10728960" cy="2182367"/>
          </a:xfrm>
          <a:prstGeom prst="roundRect">
            <a:avLst>
              <a:gd name="adj" fmla="val 3491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333625"/>
            <a:ext cx="10363200" cy="1877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用 Playwright 幫我寫 e2e 測試腳本，涵蓋這幾條使用者流程：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【流程 1】【流程 2】【流程 3】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要求：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寫成可重跑的腳本檔</a:t>
            </a: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，放在 e2e/ 目錄下，加中文註解說明用途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</a:t>
            </a:r>
            <a:r>
              <a:rPr sz="132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不要用一次性的互動指令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- 每個腳本可獨立執行，失敗時輸出足以定位問題的訊息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07432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一次性指令跑完就沒了。腳本是資產。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28 / 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9624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讓它自己跑一次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102108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287780"/>
            <a:ext cx="10728960" cy="573024"/>
          </a:xfrm>
          <a:prstGeom prst="roundRect">
            <a:avLst>
              <a:gd name="adj" fmla="val 13297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103632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PS&gt; npx playwright test</a:t>
            </a:r>
          </a:p>
        </p:txBody>
      </p:sp>
      <p:pic>
        <p:nvPicPr>
          <p:cNvPr id="6" name="live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72640" y="1967483"/>
            <a:ext cx="8046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691884"/>
            <a:ext cx="1072896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相依阻塞 → 完成前置 → 阻塞自動解除、進度前進、下一步建議跳動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29 / 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e2e-screen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901446"/>
            <a:ext cx="438912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跑完它留下這些——一次執行的完整軌跡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30 / 54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01392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3-3 把截圖變成文件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86025"/>
            <a:ext cx="10728960" cy="1572768"/>
          </a:xfrm>
          <a:prstGeom prst="roundRect">
            <a:avLst>
              <a:gd name="adj" fmla="val 4844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638425"/>
            <a:ext cx="10363200" cy="1267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在 e2e 腳本的每個關鍵步驟後加上截圖，存到 e2e/screenshots/ 並依步驟編號命名。</a:t>
            </a:r>
          </a:p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跑完後，</a:t>
            </a:r>
            <a:r>
              <a:rPr sz="156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用這批截圖幫我產出一份操作 SOP 文件</a:t>
            </a: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每個步驟一張圖 + 操作說明 + 預期結果 + 常見錯誤。</a:t>
            </a:r>
          </a:p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輸出成 Markdown。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02633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同一次執行：一份給機器看，一份給人看。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31 / 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b-generated-sop-ste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73" y="901446"/>
            <a:ext cx="3281653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沒有人手寫這份文件——它是測試跑完自己長出來的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32 / 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8653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E2E 截圖直接標紅框：問題畫在畫面上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1137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4-e2e-ui-audit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8076"/>
            <a:ext cx="10728960" cy="346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3407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走查腳本截圖後，稽核腳本把紅框、編號與問題代碼直接畫上去——文字報告對得回畫面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33 / 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79991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E2E 截圖還有第三種用法：修正前後比對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4831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3-e2e-ui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1531"/>
            <a:ext cx="10728960" cy="3677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40620"/>
            <a:ext cx="1072896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同一支腳本跑兩次——左 Before、右 After。UI 改了什麼，畫面自己說話，不用讀 diff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34 / 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84468" y="1847469"/>
            <a:ext cx="423062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84468" y="1908428"/>
            <a:ext cx="423062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58949"/>
            <a:ext cx="1072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為什麼要求 AI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「先寫測試、確認紅燈，才寫實作」？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38670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3653408"/>
            <a:ext cx="10728960" cy="1204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A. 測試比實作好寫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B. 先寫程式再補測試，AI 傾向寫出「證明自己對」的測試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C. 這樣執行比較快 D. 測試框架規定要這樣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3 開發驗收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35 /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5490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第四站：上線前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40330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4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想法期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能不能做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可行性評估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1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8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928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28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設計期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28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幫我寫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選型＋計畫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222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31B33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318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STATION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18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6E7B9B"/>
                </a:solidFill>
                <a:latin typeface="Microsoft JhengHei"/>
                <a:ea typeface="Microsoft JhengHei"/>
                <a:cs typeface="Microsoft JhengHei"/>
              </a:rPr>
              <a:t>開發驗收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18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幫我測試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5A6684"/>
                </a:solidFill>
                <a:latin typeface="Microsoft JhengHei"/>
                <a:ea typeface="Microsoft JhengHei"/>
                <a:cs typeface="Microsoft JhengHei"/>
              </a:rPr>
              <a:t>→ TDD＋E2E＋SOP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810" y="3722370"/>
            <a:ext cx="2590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sz="2039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570" y="3120390"/>
            <a:ext cx="2327910" cy="1569720"/>
          </a:xfrm>
          <a:prstGeom prst="roundRect">
            <a:avLst>
              <a:gd name="adj" fmla="val 5825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3530" y="3318510"/>
            <a:ext cx="22059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STATION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3530" y="3577590"/>
            <a:ext cx="220599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sz="1739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上線前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3530" y="3973830"/>
            <a:ext cx="22059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查漏洞</a:t>
            </a:r>
          </a:p>
          <a:p>
            <a:pPr algn="ctr">
              <a:lnSpc>
                <a:spcPts val="1889"/>
              </a:lnSpc>
            </a:pPr>
            <a:r>
              <a:rPr sz="12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→ 逐項稽核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36 / 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65098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給它一個外部基準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9938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193798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193798"/>
            <a:ext cx="45720" cy="667512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346198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❌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幫我看看有沒有資安漏洞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98470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2998470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15087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第一層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我寫的程式碼 → OWASP Top 10:2025 ＋ CWE Top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14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80314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395554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第二層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我用的第三方元件 → 已知 CVE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90694"/>
            <a:ext cx="10728960" cy="749808"/>
          </a:xfrm>
          <a:prstGeom prst="roundRect">
            <a:avLst>
              <a:gd name="adj" fmla="val 10162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790694"/>
            <a:ext cx="38100" cy="749808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2020" y="4897374"/>
            <a:ext cx="10347960" cy="53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💡 </a:t>
            </a:r>
            <a:r>
              <a:rPr sz="132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知識點｜基準式稽核（Baseline audit）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：有清單才有覆蓋率——「沒命中也要說明為什麼不適用」把稽核從「挑幾個講」變成「逐項全查」，報告才可以被審查。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37 / 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75688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第一層 我寫的程式碼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10728960" cy="1255776"/>
          </a:xfrm>
          <a:prstGeom prst="roundRect">
            <a:avLst>
              <a:gd name="adj" fmla="val 6067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12720"/>
            <a:ext cx="10363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對照 </a:t>
            </a:r>
            <a:r>
              <a:rPr sz="156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OWASP Top 10:2025</a:t>
            </a: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 與 </a:t>
            </a:r>
            <a:r>
              <a:rPr sz="156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CWE Top 25（2025 版）</a:t>
            </a: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逐項檢查這份程式碼，</a:t>
            </a:r>
          </a:p>
          <a:p>
            <a:pPr algn="l">
              <a:lnSpc>
                <a:spcPts val="2496"/>
              </a:lnSpc>
            </a:pPr>
            <a:r>
              <a:rPr sz="156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輸出表格：分類代號、是否命中、程式位置、風險等級、修補建議。</a:t>
            </a:r>
          </a:p>
          <a:p>
            <a:pPr algn="l">
              <a:lnSpc>
                <a:spcPts val="2496"/>
              </a:lnSpc>
            </a:pPr>
            <a:r>
              <a:rPr sz="1560" b="1">
                <a:solidFill>
                  <a:srgbClr val="FFD23E"/>
                </a:solidFill>
                <a:latin typeface="Consolas"/>
                <a:ea typeface="Consolas"/>
                <a:cs typeface="Consolas"/>
              </a:rPr>
              <a:t>沒命中的項目也要列出，並說明為什麼不適用。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59935"/>
            <a:ext cx="10728960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OWASP Top 10:2025 — 2025/11 發表、2026/01 定版。新增 </a:t>
            </a:r>
            <a:r>
              <a:rPr sz="132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A03 軟體供應鏈失效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32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A10 例外狀況處理不當</a:t>
            </a: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，SSRF 併入 A01。</a:t>
            </a:r>
          </a:p>
          <a:p>
            <a:pPr algn="l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CWE Top 25（2025 版）— 2025/12 CISA／MITRE 發布，取樣 3.9 萬個漏洞。前三名：XSS、SQL Injection、CSRF。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38 / 54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security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0036"/>
            <a:ext cx="7620000" cy="422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37057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命中 4 項 OWASP、1 項 CWE——不是全綠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39 /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b-owasp-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77646"/>
            <a:ext cx="7620000" cy="4373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4296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不是「可能有風險」——是實際跑出來的回應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40 / 54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8126"/>
            <a:ext cx="10728960" cy="362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sz="2039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第二層 我用的第三方元件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92758"/>
            <a:ext cx="10728960" cy="841248"/>
          </a:xfrm>
          <a:prstGeom prst="roundRect">
            <a:avLst>
              <a:gd name="adj" fmla="val 9057"/>
            </a:avLst>
          </a:prstGeom>
          <a:solidFill>
            <a:srgbClr val="060A1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158"/>
            <a:ext cx="10363200" cy="536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列出本專案所有相依套件與版本，逐一查有無已知 CVE，</a:t>
            </a:r>
          </a:p>
          <a:p>
            <a:pPr algn="l">
              <a:lnSpc>
                <a:spcPts val="2112"/>
              </a:lnSpc>
            </a:pPr>
            <a:r>
              <a:rPr sz="1320" b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標出 CVSS 分數、影響說明與建議升級版本，依風險排序。</a:t>
            </a:r>
          </a:p>
        </p:txBody>
      </p:sp>
      <p:pic>
        <p:nvPicPr>
          <p:cNvPr id="5" name="Picture 4" descr="10-dependency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17" y="2577846"/>
            <a:ext cx="5336964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12486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0 漏洞，但 5 個直接相依帶進 106 個套件——這只是「今天乾淨」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41 / 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fix-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268" y="901446"/>
            <a:ext cx="4661462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519165"/>
            <a:ext cx="10728960" cy="28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修補後：用戶端收到制式訊息，完整內容進日誌——資訊不是消失，是換了去處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42 / 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42528"/>
            <a:ext cx="10728960" cy="507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AI 稽核</a:t>
            </a:r>
            <a:r>
              <a:rPr sz="25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取代不了滲透測試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55201"/>
            <a:ext cx="10728960" cy="2007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它的價值是</a:t>
            </a:r>
            <a:r>
              <a:rPr sz="186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便宜的第一道網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在你花錢請人測之前，先把明顯的東西掃掉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稽核全綠不等於安全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只等於「清單上的項目都看過了」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43 / 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84468" y="1847469"/>
            <a:ext cx="423062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84468" y="1908428"/>
            <a:ext cx="423062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260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58949"/>
            <a:ext cx="1072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叫 AI 做資安檢查時，下列哪句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最能逼出「覆蓋率」而不是隨便挑幾點講？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38670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3653408"/>
            <a:ext cx="10728960" cy="1204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A. 幫我看看有沒有資安漏洞 B. 幫我找出所有的漏洞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C. 對照 OWASP Top 10:2025 逐項檢查，沒命中的項目也要列出並說明為什麼不適用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D. 幫我做一次滲透測試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站 4 上線前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44 /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15833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還記得開場那一題嗎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2340673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59773"/>
            <a:ext cx="10728960" cy="1523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A.「幫我寫一個 XXX」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B.「這個能不能做？」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C.「幫我看看有沒有問題」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88192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這三句話，正好就是今天要換掉的三句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45 /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6933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四句型總表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01773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68474"/>
          <a:ext cx="10728958" cy="3060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054"/>
                <a:gridCol w="2574950"/>
                <a:gridCol w="3647846"/>
                <a:gridCol w="3004108"/>
              </a:tblGrid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❌ 別這樣問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✅ 這樣問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你會拿到的產物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719328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想法期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FB4A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這個能不能做？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BBF7D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做一份可行性評估報告，含難易度分級、風險、驗證順序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可進會議、可被打槍的評估文件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719328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FB4A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幫我寫一個 X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BBF7D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先選型分析 → 再開發計畫（每階段用 TDD） → 才實作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選型比較表 + 里程碑與驗收標準（＝測試案例清單）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719328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開發驗收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FB4A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幫我測試有沒有問題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BBF7D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TDD 紅綠重構 → Playwright 腳本 → 截圖生 SOP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回歸測試資產 + 操作手冊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上線前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FB4A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幫我看有沒有漏洞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BBF7D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 OWASP／CWE 逐項稽核，含未命中原因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有覆蓋率的稽核表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46 / 54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7323"/>
            <a:ext cx="10728960" cy="1523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這四招的共通點只有一個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ctr">
              <a:lnSpc>
                <a:spcPts val="3999"/>
              </a:lnSpc>
            </a:pPr>
            <a:r>
              <a:rPr sz="258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你要求了一份別人可以審查的東西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96702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把「一句話回答」換成「可審查產物」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47 / 54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77949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今天的四招，其實是節錄自一門完整的課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23363"/>
            <a:ext cx="1072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賦能全端開發</a:t>
            </a:r>
          </a:p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從零打造企業級智慧應用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30240" y="3651123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024503"/>
            <a:ext cx="10728960" cy="803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Hahow 線上課 · 用同一套 AI 提問方法</a:t>
            </a:r>
          </a:p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從第一行程式寫到</a:t>
            </a:r>
            <a:r>
              <a:rPr sz="186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正式上線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48 / 54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9768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你會做出什麼：AI CRM 智慧業務助理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25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326386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326386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478786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可登入、有角色權限的企業級 CRM（客戶、商機、互動紀錄）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1057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3131057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283458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打開客戶頁面，AI 自動整理：活躍度、風險訊號、下一步建議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5729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935729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408813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RAG 知識庫——AI 的建議會</a:t>
            </a:r>
            <a:r>
              <a:rPr sz="16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引用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產品文件與銷售話術，不憑空回答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4040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74040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5360" y="489280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Tool calling 讀取真實 CRM 資料——金額、訂單由資料庫說了算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49 /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17269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九個單元：一條產品線，不是零散範例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210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08809"/>
          <a:ext cx="10728959" cy="377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475"/>
                <a:gridCol w="5149900"/>
                <a:gridCol w="4291584"/>
              </a:tblGrid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單元</a:t>
                      </a:r>
                    </a:p>
                  </a:txBody>
                  <a:tcPr marL="106680" marR="106680" marT="60960" marB="6096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主題</a:t>
                      </a:r>
                    </a:p>
                  </a:txBody>
                  <a:tcPr marL="106680" marR="106680" marT="60960" marB="6096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核心產出</a:t>
                      </a:r>
                    </a:p>
                  </a:txBody>
                  <a:tcPr marL="106680" marR="106680" marT="60960" marB="60960" anchor="t">
                    <a:solidFill>
                      <a:srgbClr val="1B2542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開發環境、專案骨架與 AI 協作流程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可啟動的 full-stack monorepo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Spring MVC、REST API 與 CRM Domain Modeling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客戶與互動紀錄 API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PostgreSQL、Flyway、JPA 與動態查詢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CRM 資料庫與查詢服務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Spring Security、JWT、OpenAPI 與錯誤處理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安全可測的後端 API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React CRM 工作台與前後端整合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可登入的 CRM UI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Spring AI ChatClient、SSE 與 tool calling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CRM 助理聊天室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RAG、pgvector、MCP 與知識庫擴充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可引用文件的 AI 建議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結訓專案衝刺與 Demo Day 驗收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可展示的完整 AI CRM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延伸：Cloudflare Tunnel 上線實戰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016"/>
                        </a:lnSpc>
                      </a:pPr>
                      <a:r>
                        <a:rPr sz="126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外網可連的正式上線系統</a:t>
                      </a:r>
                    </a:p>
                  </a:txBody>
                  <a:tcPr marL="106680" marR="106680" marT="60960" marB="6096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50 / 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816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技術棧：用現在進行式的版本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5300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19706"/>
          <a:ext cx="10728959" cy="3157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4950"/>
                <a:gridCol w="8154009"/>
              </a:tblGrid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課程採用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後端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Java 21 · Spring Boot 4.0 · Spring MVC · Spring Data JPA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資料庫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PostgreSQL + pgvector · Flyway migration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Spring Security + JWT · SpringDoc OpenAPI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Spring AI 2.0 · RAG · Tool Calling · MCP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前端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React + TypeScript + Vite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51104"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開發環境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112"/>
                        </a:lnSpc>
                      </a:pPr>
                      <a:r>
                        <a:rPr sz="132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Windows + PowerShell 7+ · AI Agent 協作流程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51 / 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97686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這門課適合誰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25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2326386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2326386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" y="2478786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有 Java 基礎，想把 Spring Boot、React 與 AI 串成完整產品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1057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1520" y="3131057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5360" y="3283458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會寫 REST API，但還不熟企業級分層、權限、遷移與前後端整合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5729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3935729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5360" y="4088130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想讓 Spring AI 與 RAG 真的落地，而不是只做聊天機器人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40402"/>
            <a:ext cx="10728960" cy="667512"/>
          </a:xfrm>
          <a:prstGeom prst="roundRect">
            <a:avLst>
              <a:gd name="adj" fmla="val 13698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4740402"/>
            <a:ext cx="45720" cy="667512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5360" y="4892802"/>
            <a:ext cx="10287000" cy="362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56"/>
              </a:lnSpc>
            </a:pP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✅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68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沒程式經驗也 OK——教學中會帶你了解基礎概念，</a:t>
            </a:r>
            <a:r>
              <a:rPr sz="16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透過提示詞也能做出東西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52 / 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8019"/>
            <a:ext cx="1072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課程連結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154285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hahow-course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85759"/>
            <a:ext cx="260604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66119"/>
            <a:ext cx="10728960" cy="507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sz="25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hahow.in/cr/ai-full-stack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02592"/>
            <a:ext cx="1072896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sz="132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掃碼或輸入網址進課程頁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課程介紹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53 /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34437"/>
            <a:ext cx="1072896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sz="420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9589"/>
            <a:ext cx="1072896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謝謝大家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54 /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