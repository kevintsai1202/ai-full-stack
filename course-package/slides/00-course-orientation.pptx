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開場白：先不要急著裝東西。花五分鐘講清楚這門課怎麼上，後面兩天會省下很多焦慮。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這兩種狀況我看過太多次。重點不是罵學員，是要讓他知道『這是課程設計要解決的問題』，不是他的問題。講的時候放慢，讓他對號入座。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這頁是整場開場的骨架。強調『兩種責任』而不是『兩種資源』——責任分清楚，學員才知道自己該把注意力放哪。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這是整場最重要的一句話，也是唯一希望學員記住的口訣。講完停兩秒，不要急著翻頁。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這頁是整場唯一的『行為指令』。三樣東西要一項一項講，講完停一下讓他真的把筆放下。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快速帶過即可，不要逐項念完。重點是讓學員知道『每一節都有對應頁面』，細節他自己會逛。分類提示詞那一項值得多講一句。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八份教材不用逐一念，指著螢幕帶過主題範圍就好。強調『這些是可下載的檔案，不是只能線上看』。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這頁是給焦慮型學員的解藥。『無限次、沒有期限』要講清楚。三遍的用法建議照著念，這是很具體的行動建議。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這頁要講得輕鬆一點，帶點笑意。目的是把『跟丟＝我不行』這個聯想拆掉。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收尾要快，直接把動能帶進第一節。最後一句是鉤子，講完就翻頁。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62047"/>
            <a:ext cx="11094720" cy="760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990"/>
              </a:lnSpc>
            </a:pPr>
            <a:r>
              <a:rPr sz="468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這門課怎麼上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75228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影片帶你走一遍，網站讓你查一輩子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04027" y="3718712"/>
            <a:ext cx="783945" cy="259080"/>
          </a:xfrm>
          <a:prstGeom prst="roundRect">
            <a:avLst>
              <a:gd name="adj" fmla="val 5000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704027" y="3772052"/>
            <a:ext cx="78394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60"/>
              </a:lnSpc>
            </a:pPr>
            <a:r>
              <a:rPr sz="96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約 6 分鐘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84472"/>
            <a:ext cx="110947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39"/>
              </a:lnSpc>
            </a:pPr>
            <a:r>
              <a:rPr sz="12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駕馭 AI 的全端實戰養成班｜開場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5427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我看過太多次的兩種挫折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9923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203094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203094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355494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狀況一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回家想自己再跑一次，卡住了——不是不會，是想不起來那行指令怎麼打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55950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2955950"/>
            <a:ext cx="45720" cy="615696"/>
          </a:xfrm>
          <a:prstGeom prst="rect">
            <a:avLst/>
          </a:prstGeom>
          <a:solidFill>
            <a:srgbClr val="AEB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108350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於是開始拉影片，一分鐘一分鐘往前找，找了十分鐘，熱情就被磨掉了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8806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3708806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861206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狀況二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怕忘記，所以整堂課都在抄筆記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61662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48640" y="4461662"/>
            <a:ext cx="45720" cy="615696"/>
          </a:xfrm>
          <a:prstGeom prst="rect">
            <a:avLst/>
          </a:prstGeom>
          <a:solidFill>
            <a:srgbClr val="AEB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614062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抄得很認真，但台上講的「為什麼要這樣設計」，一句都沒聽進去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4518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這兩種，都不該發生在你身上。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63902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兩個載體，兩種責任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08859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75559"/>
          <a:ext cx="11094719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0838"/>
                <a:gridCol w="2884627"/>
                <a:gridCol w="5769254"/>
              </a:tblGrid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載體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負責什麼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具體是什麼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影片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帶你走一遍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示範操作、講解為什麼這樣做、示範遇到錯誤時怎麼判斷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教學網站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讓你查得到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提示詞、指令、下載連結、參考文件，全部可以直接複製貼上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302023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4302023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9140" y="4408703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為什麼要這樣分？</a:t>
            </a: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影片適合傳達脈絡與判斷，但非常不適合當工具書——沒有人想為了找一行指令，把影片拉來拉去。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98649"/>
            <a:ext cx="11094720" cy="1046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影片帶你走一遍</a:t>
            </a:r>
          </a:p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網站讓你查一輩子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30240" y="3466642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33342"/>
            <a:ext cx="11094720" cy="673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課堂上你只需要做一件事：</a:t>
            </a:r>
            <a:r>
              <a:rPr sz="1560" b="1">
                <a:solidFill>
                  <a:srgbClr val="FFD23E"/>
                </a:solidFill>
                <a:latin typeface="Microsoft JhengHei"/>
                <a:ea typeface="Microsoft JhengHei"/>
                <a:cs typeface="Microsoft JhengHei"/>
              </a:rPr>
              <a:t>理解為什麼</a:t>
            </a: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至於指令怎麼拼、網址是什麼，全部交給網站。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30705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這三樣，請不要抄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75662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579522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579522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731922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安裝指令與下載網址 —— 所有工具的官方連結都在網站與教材裡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2378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3332378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484778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示範用的提示詞 —— 完整原文可複製，Windows 與 macOS 各有一份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85234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4085234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4237634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驗證命令與預期輸出 —— 該執行什麼、看到什麼才算過關，網站都寫明了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38090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把手空出來，專心聽。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5338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網站上，每個單元都有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9834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65044"/>
          <a:ext cx="1109471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2204"/>
                <a:gridCol w="7322515"/>
              </a:tblGrid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區塊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學習目標與核心概念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這一節要達成什麼、有哪些關鍵觀念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示範提示詞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課堂上示範用的完整提示詞，Windows 與 macOS 各一份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分類提示詞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依用途分成建置 build、驗證 verify、排錯 fix——遇到什麼狀況就用哪一組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實作任務清單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這一節做完該完成哪些事，可逐項核對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參考圖解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架構圖與流程圖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76222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除了單元頁面，還有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21179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2387879"/>
            <a:ext cx="11094720" cy="298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52"/>
              </a:lnSpc>
            </a:pPr>
            <a:r>
              <a:rPr sz="16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八份下載教材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93263"/>
            <a:ext cx="11094720" cy="54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開發環境安裝指引 · REST API 命名規範 · Docker PostgreSQL 與 pgvector 設定 · pgvector 向量檢索指令 · JWT 架構與認證流程 · React 與 Axios 前後端整合 · Spring AI 與 Tool Calling 架構 · Embabel 黑板機制與 GOAP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44011"/>
            <a:ext cx="11094720" cy="298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52"/>
              </a:lnSpc>
            </a:pPr>
            <a:r>
              <a:rPr sz="16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還有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9395"/>
            <a:ext cx="11094720" cy="272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隨堂測驗</a:t>
            </a: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——檢查自己是否真的理解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28109"/>
            <a:ext cx="11094720" cy="272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附錄</a:t>
            </a: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——術語表、常見問題、驗收檢核清單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89703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4789703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9140" y="4896383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教學網站：</a:t>
            </a: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https://kevintsai1202.github.io/ai-full-stack/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66569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影片可以無限次重複觀看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11526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960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第一遍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純看不操作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先理解這一節在解決什麼問題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4320" y="3487826"/>
            <a:ext cx="1981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sz="1560" b="0">
                <a:solidFill>
                  <a:srgbClr val="2C3A63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88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第二遍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開著網站跟著做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卡住就暫停，不用趕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487826"/>
            <a:ext cx="1981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sz="1560" b="0">
                <a:solidFill>
                  <a:srgbClr val="2C3A63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912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6008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之後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只回放特定段落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008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其他時候直接查網站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02226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沒有觀看期限。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看片方式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64258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跟丟了怎麼辦？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409215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813075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813075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965475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不要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慌著暫停、倒帶、追進度——越追越亂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65931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3565931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718331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要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先把這一節看完，理解我在幹嘛，之後再回來慢慢做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01667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4501667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9140" y="4608347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我示範的節奏</a:t>
            </a: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一定</a:t>
            </a: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比你自己動手快，這是正常的。你有無限次的機會。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看片方式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16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接下來：把開發環境準備起來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30240" y="320512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471824"/>
            <a:ext cx="11094720" cy="673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而你會發現——</a:t>
            </a:r>
          </a:p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連「安裝」這件事，我們都不打算自己一個一個做。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