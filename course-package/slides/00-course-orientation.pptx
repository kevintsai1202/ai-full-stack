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開場白：先不要急著裝東西。先看完整課程路線與共同情境，再花幾分鐘講清楚這門課怎麼上，後面幾天會省下很多焦慮。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在任何環境安裝前，先讓學員知道這 32 小時最後要交付什麼。不要逐項念技術名詞，請用『同一套 CRM 一路長出來』串起前後半段。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這不是額外故事，而是後續 API、畫面與 AI 回答的共同驗收基準。指著三種客戶狀態說明：看到數字要回到程式資料，需要摘要與建議才交給 AI。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這兩種狀況我看過太多次。重點不是罵學員，是要讓他知道『這是課程設計要解決的問題』，不是他的問題。講的時候放慢，讓他對號入座。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這頁是整場開場的骨架。強調『兩種責任』而不是『兩種資源』——責任分清楚，學員才知道自己該把注意力放哪。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這是整場最重要的一句話，也是唯一希望學員記住的口訣。講完停兩秒，不要急著翻頁。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這頁是整場唯一的『行為指令』。三樣東西要一項一項講，講完停一下讓他真的把筆放下。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快速帶過即可，不要逐項念完。重點是讓學員知道『每一節都有對應頁面』，細節他自己會逛。分類提示詞那一項值得多講一句。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七份教材不用逐一念，指著螢幕帶過主題範圍就好。強調『這些是可下載的檔案，不是只能線上看』。網站上另有一份 Embabel 選修附錄，不列在這裡，不用主動提。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這頁是給焦慮型學員的解藥。『無限次、沒有期限』要講清楚。三遍的用法建議照著念，這是很具體的行動建議。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這頁要講得輕鬆一點，帶點笑意。目的是把『跟丟＝我不行』這個聯想拆掉。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收尾要快，直接把動能帶進第一節。最後一句是鉤子，講完就翻頁。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62047"/>
            <a:ext cx="11094720" cy="760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90"/>
              </a:lnSpc>
            </a:pPr>
            <a:r>
              <a:rPr sz="468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這門課怎麼上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75228"/>
            <a:ext cx="1109472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sz="15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影片帶你走一遍，網站讓你查一輩子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74792" y="3718712"/>
            <a:ext cx="1042416" cy="25908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4792" y="3772052"/>
            <a:ext cx="1042416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60"/>
              </a:lnSpc>
            </a:pPr>
            <a:r>
              <a:rPr sz="96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約 8～10 分鐘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84472"/>
            <a:ext cx="110947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駕馭 AI 的全端實戰養成班｜開場 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開場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99133"/>
            <a:ext cx="11094720" cy="10460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18"/>
              </a:lnSpc>
            </a:pPr>
            <a:r>
              <a:rPr sz="312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先看課程總覽：</a:t>
            </a:r>
          </a:p>
          <a:p>
            <a:pPr algn="l">
              <a:lnSpc>
                <a:spcPts val="4118"/>
              </a:lnSpc>
            </a:pPr>
            <a:r>
              <a:rPr sz="312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我們最後要交付什麼？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767126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033826"/>
          <a:ext cx="11094719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0838"/>
                <a:gridCol w="8653881"/>
              </a:tblGrid>
              <a:tr h="414528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課程地圖</a:t>
                      </a:r>
                    </a:p>
                  </a:txBody>
                  <a:tcPr marL="121920" marR="121920" marT="91440" marB="91440" anchor="t">
                    <a:solidFill>
                      <a:srgbClr val="1B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</a:t>
                      </a:r>
                    </a:p>
                  </a:txBody>
                  <a:tcPr marL="121920" marR="121920" marT="91440" marB="91440" anchor="t">
                    <a:solidFill>
                      <a:srgbClr val="1B2542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規模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32 小時／四天混成學習：先打穩 Spring Boot、REST、JPA、Flyway、Security、React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後半段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把 Spring AI、SSE、tool calling、RAG、MCP 接回同一個 CRM domain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核心產出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CRM 智慧業務助理：登入、客戶管理、AI 對話、RAG 知識庫、agent trace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完成標準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本機 verify 通過、完成結訓測驗，並在 Demo Day 展示完整流程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課程總覽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9296"/>
            <a:ext cx="11094720" cy="10460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18"/>
              </a:lnSpc>
            </a:pPr>
            <a:r>
              <a:rPr sz="312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先理解共同情境：</a:t>
            </a:r>
          </a:p>
          <a:p>
            <a:pPr algn="l">
              <a:lnSpc>
                <a:spcPts val="4118"/>
              </a:lnSpc>
            </a:pPr>
            <a:r>
              <a:rPr sz="312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三家 B2B 客戶，三種決策問題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547289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813989"/>
          <a:ext cx="11094720" cy="1889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3680"/>
                <a:gridCol w="2773680"/>
                <a:gridCol w="5547360"/>
              </a:tblGrid>
              <a:tr h="414528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客戶</a:t>
                      </a:r>
                    </a:p>
                  </a:txBody>
                  <a:tcPr marL="121920" marR="121920" marT="91440" marB="91440" anchor="t">
                    <a:solidFill>
                      <a:srgbClr val="1B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目前狀態</a:t>
                      </a:r>
                    </a:p>
                  </a:txBody>
                  <a:tcPr marL="121920" marR="121920" marT="91440" marB="91440" anchor="t">
                    <a:solidFill>
                      <a:srgbClr val="1B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CRM 要協助回答的問題</a:t>
                      </a:r>
                    </a:p>
                  </a:txBody>
                  <a:tcPr marL="121920" marR="121920" marT="91440" marB="91440" anchor="t">
                    <a:solidFill>
                      <a:srgbClr val="1B2542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亞太智能製造
(APIM)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高價值活躍客戶
有 AI 預測維護商機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如何掌握活躍客戶的商機與下一步行動？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646176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環球零售巨擘
(GlobalMart)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流失風險客戶
合約將到期、有未解決客訴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如何從互動紀錄判斷風險並提出挽回建議？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鼎峰金融科技
(ApexFin)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續約延遲客戶
合約已過期、商機停滯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如何找出停滯原因，做出有資料支撐的決策？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886629"/>
            <a:ext cx="11094720" cy="439674"/>
          </a:xfrm>
          <a:prstGeom prst="roundRect">
            <a:avLst>
              <a:gd name="adj" fmla="val 17331"/>
            </a:avLst>
          </a:prstGeom>
          <a:solidFill>
            <a:srgbClr val="101A3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4886629"/>
            <a:ext cx="38100" cy="439674"/>
          </a:xfrm>
          <a:prstGeom prst="rect">
            <a:avLst/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9140" y="4993309"/>
            <a:ext cx="10713720" cy="2263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2"/>
              </a:lnSpc>
            </a:pPr>
            <a:r>
              <a:rPr sz="108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共同邊界：</a:t>
            </a:r>
            <a:r>
              <a:rPr sz="108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數字由程式算，摘要、風險與行動建議由 AI 撰寫。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共用情境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154277"/>
            <a:ext cx="11094720" cy="523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18"/>
              </a:lnSpc>
            </a:pPr>
            <a:r>
              <a:rPr sz="312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我看過太多次的兩種挫折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99234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2203094"/>
            <a:ext cx="11094720" cy="615696"/>
          </a:xfrm>
          <a:prstGeom prst="roundRect">
            <a:avLst>
              <a:gd name="adj" fmla="val 14851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2203094"/>
            <a:ext cx="45720" cy="615696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355494"/>
            <a:ext cx="10683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48"/>
              </a:lnSpc>
            </a:pPr>
            <a:r>
              <a:rPr sz="1440" b="1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狀況一</a:t>
            </a:r>
            <a:r>
              <a:rPr sz="144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44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回家想自己再跑一次，卡住了——不是不會，是想不起來那行指令怎麼打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55950"/>
            <a:ext cx="11094720" cy="615696"/>
          </a:xfrm>
          <a:prstGeom prst="roundRect">
            <a:avLst>
              <a:gd name="adj" fmla="val 14851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2955950"/>
            <a:ext cx="45720" cy="615696"/>
          </a:xfrm>
          <a:prstGeom prst="rect">
            <a:avLst/>
          </a:prstGeom>
          <a:solidFill>
            <a:srgbClr val="AEB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3108350"/>
            <a:ext cx="10683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48"/>
              </a:lnSpc>
            </a:pPr>
            <a:r>
              <a:rPr sz="14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於是開始拉影片，一分鐘一分鐘往前找，找了十分鐘，熱情就被磨掉了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8806"/>
            <a:ext cx="11094720" cy="615696"/>
          </a:xfrm>
          <a:prstGeom prst="roundRect">
            <a:avLst>
              <a:gd name="adj" fmla="val 14851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3708806"/>
            <a:ext cx="45720" cy="615696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3861206"/>
            <a:ext cx="10683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48"/>
              </a:lnSpc>
            </a:pPr>
            <a:r>
              <a:rPr sz="1440" b="1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狀況二</a:t>
            </a:r>
            <a:r>
              <a:rPr sz="144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44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怕忘記，所以整堂課都在抄筆記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61662"/>
            <a:ext cx="11094720" cy="615696"/>
          </a:xfrm>
          <a:prstGeom prst="roundRect">
            <a:avLst>
              <a:gd name="adj" fmla="val 14851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4461662"/>
            <a:ext cx="45720" cy="615696"/>
          </a:xfrm>
          <a:prstGeom prst="rect">
            <a:avLst/>
          </a:prstGeom>
          <a:solidFill>
            <a:srgbClr val="AEB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4614062"/>
            <a:ext cx="10683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48"/>
              </a:lnSpc>
            </a:pPr>
            <a:r>
              <a:rPr sz="14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抄得很認真，但台上講的「為什麼要這樣設計」，一句都沒聽進去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14518"/>
            <a:ext cx="1109472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sz="15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這兩種，都不該發生在你身上。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開場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963902"/>
            <a:ext cx="11094720" cy="523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18"/>
              </a:lnSpc>
            </a:pPr>
            <a:r>
              <a:rPr sz="312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兩個載體，兩種責任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608859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875559"/>
          <a:ext cx="11094719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0838"/>
                <a:gridCol w="2884627"/>
                <a:gridCol w="5769254"/>
              </a:tblGrid>
              <a:tr h="414528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載體</a:t>
                      </a:r>
                    </a:p>
                  </a:txBody>
                  <a:tcPr marL="121920" marR="121920" marT="91440" marB="91440" anchor="t">
                    <a:solidFill>
                      <a:srgbClr val="1B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負責什麼</a:t>
                      </a:r>
                    </a:p>
                  </a:txBody>
                  <a:tcPr marL="121920" marR="121920" marT="91440" marB="91440" anchor="t">
                    <a:solidFill>
                      <a:srgbClr val="1B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具體是什麼</a:t>
                      </a:r>
                    </a:p>
                  </a:txBody>
                  <a:tcPr marL="121920" marR="121920" marT="91440" marB="91440" anchor="t">
                    <a:solidFill>
                      <a:srgbClr val="1B2542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影片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帶你走一遍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示範操作、講解為什麼這樣做、示範遇到錯誤時怎麼判斷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教學網站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讓你查得到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提示詞、指令、下載連結、參考文件，全部可以直接複製貼上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302023"/>
            <a:ext cx="11094720" cy="439674"/>
          </a:xfrm>
          <a:prstGeom prst="roundRect">
            <a:avLst>
              <a:gd name="adj" fmla="val 17331"/>
            </a:avLst>
          </a:prstGeom>
          <a:solidFill>
            <a:srgbClr val="101A3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4302023"/>
            <a:ext cx="38100" cy="439674"/>
          </a:xfrm>
          <a:prstGeom prst="rect">
            <a:avLst/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9140" y="4408703"/>
            <a:ext cx="10713720" cy="2263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2"/>
              </a:lnSpc>
            </a:pPr>
            <a:r>
              <a:rPr sz="108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為什麼要這樣分？</a:t>
            </a:r>
            <a:r>
              <a:rPr sz="108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影片適合傳達脈絡與判斷，但非常不適合當工具書——沒有人想為了找一行指令，把影片拉來拉去。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兩個載體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98649"/>
            <a:ext cx="11094720" cy="10460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118"/>
              </a:lnSpc>
            </a:pPr>
            <a:r>
              <a:rPr sz="312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影片帶你走一遍</a:t>
            </a:r>
          </a:p>
          <a:p>
            <a:pPr algn="ctr">
              <a:lnSpc>
                <a:spcPts val="4118"/>
              </a:lnSpc>
            </a:pPr>
            <a:r>
              <a:rPr sz="312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網站讓你查一輩子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30240" y="3466642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733342"/>
            <a:ext cx="11094720" cy="673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sz="15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課堂上你只需要做一件事：</a:t>
            </a:r>
            <a:r>
              <a:rPr sz="1560" b="1">
                <a:solidFill>
                  <a:srgbClr val="FFD23E"/>
                </a:solidFill>
                <a:latin typeface="Microsoft JhengHei"/>
                <a:ea typeface="Microsoft JhengHei"/>
                <a:cs typeface="Microsoft JhengHei"/>
              </a:rPr>
              <a:t>理解為什麼</a:t>
            </a:r>
            <a:r>
              <a:rPr sz="15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  <a:p>
            <a:pPr algn="ctr">
              <a:lnSpc>
                <a:spcPts val="2652"/>
              </a:lnSpc>
            </a:pPr>
            <a:r>
              <a:rPr sz="15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至於指令怎麼拼、網址是什麼，全部交給網站。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兩個載體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30705"/>
            <a:ext cx="11094720" cy="523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18"/>
              </a:lnSpc>
            </a:pPr>
            <a:r>
              <a:rPr sz="312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這三樣，請不要抄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175662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2579522"/>
            <a:ext cx="11094720" cy="615696"/>
          </a:xfrm>
          <a:prstGeom prst="roundRect">
            <a:avLst>
              <a:gd name="adj" fmla="val 14851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2579522"/>
            <a:ext cx="45720" cy="615696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731922"/>
            <a:ext cx="10683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48"/>
              </a:lnSpc>
            </a:pPr>
            <a:r>
              <a:rPr sz="144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r>
              <a:rPr sz="144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44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安裝指令與下載網址 —— 所有工具的官方連結都在網站與教材裡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32378"/>
            <a:ext cx="11094720" cy="615696"/>
          </a:xfrm>
          <a:prstGeom prst="roundRect">
            <a:avLst>
              <a:gd name="adj" fmla="val 14851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3332378"/>
            <a:ext cx="45720" cy="615696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3484778"/>
            <a:ext cx="10683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48"/>
              </a:lnSpc>
            </a:pPr>
            <a:r>
              <a:rPr sz="144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r>
              <a:rPr sz="144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44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示範用的提示詞 —— 完整原文可複製，Windows 與 macOS 各有一份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85234"/>
            <a:ext cx="11094720" cy="615696"/>
          </a:xfrm>
          <a:prstGeom prst="roundRect">
            <a:avLst>
              <a:gd name="adj" fmla="val 14851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4085234"/>
            <a:ext cx="45720" cy="615696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4237634"/>
            <a:ext cx="10683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48"/>
              </a:lnSpc>
            </a:pPr>
            <a:r>
              <a:rPr sz="144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r>
              <a:rPr sz="144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44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驗證命令與預期輸出 —— 該執行什麼、看到什麼才算過關，網站都寫明了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38090"/>
            <a:ext cx="1109472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sz="15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把手空出來，專心聽。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兩個載體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53387"/>
            <a:ext cx="11094720" cy="523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18"/>
              </a:lnSpc>
            </a:pPr>
            <a:r>
              <a:rPr sz="312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網站上，每個單元都有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298344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565044"/>
          <a:ext cx="11094719" cy="2487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2204"/>
                <a:gridCol w="7322515"/>
              </a:tblGrid>
              <a:tr h="414528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區塊</a:t>
                      </a:r>
                    </a:p>
                  </a:txBody>
                  <a:tcPr marL="121920" marR="121920" marT="91440" marB="91440" anchor="t">
                    <a:solidFill>
                      <a:srgbClr val="1B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</a:t>
                      </a:r>
                    </a:p>
                  </a:txBody>
                  <a:tcPr marL="121920" marR="121920" marT="91440" marB="91440" anchor="t">
                    <a:solidFill>
                      <a:srgbClr val="1B2542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學習目標與核心概念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這一節要達成什麼、有哪些關鍵觀念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示範提示詞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課堂上示範用的完整提示詞，Windows 與 macOS 各一份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分類提示詞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依用途分成建置 build、驗證 verify、排錯 fix——遇到什麼狀況就用哪一組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實作任務清單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這一節做完該完成哪些事，可逐項核對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參考圖解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1823"/>
                        </a:lnSpc>
                      </a:pPr>
                      <a:r>
                        <a:rPr sz="1140" b="0">
                          <a:solidFill>
                            <a:srgbClr val="F4F7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架構圖與流程圖</a:t>
                      </a:r>
                    </a:p>
                  </a:txBody>
                  <a:tcPr marL="121920" marR="121920" marT="91440" marB="91440" anchor="t">
                    <a:solidFill>
                      <a:srgbClr val="05070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網站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76222"/>
            <a:ext cx="11094720" cy="523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18"/>
              </a:lnSpc>
            </a:pPr>
            <a:r>
              <a:rPr sz="312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除了單元頁面，還有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121179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387879"/>
            <a:ext cx="11094720" cy="298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52"/>
              </a:lnSpc>
            </a:pPr>
            <a:r>
              <a:rPr sz="168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七份下載教材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93263"/>
            <a:ext cx="11094720" cy="544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sz="1260" b="0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開發環境安裝指引 · REST API 命名規範 · Docker PostgreSQL 與 pgvector 設定 · pgvector 向量檢索指令 · JWT 架構與認證流程 · React 與 Axios 前後端整合 · Spring AI 與 Tool Calling 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44011"/>
            <a:ext cx="11094720" cy="298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52"/>
              </a:lnSpc>
            </a:pPr>
            <a:r>
              <a:rPr sz="168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還有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9395"/>
            <a:ext cx="1109472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sz="126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隨堂測驗</a:t>
            </a:r>
            <a:r>
              <a:rPr sz="1260" b="0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——檢查自己是否真的理解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28109"/>
            <a:ext cx="1109472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sz="126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附錄</a:t>
            </a:r>
            <a:r>
              <a:rPr sz="1260" b="0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——術語表、常見問題、驗收檢核清單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89703"/>
            <a:ext cx="11094720" cy="439674"/>
          </a:xfrm>
          <a:prstGeom prst="roundRect">
            <a:avLst>
              <a:gd name="adj" fmla="val 17331"/>
            </a:avLst>
          </a:prstGeom>
          <a:solidFill>
            <a:srgbClr val="101A3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4789703"/>
            <a:ext cx="38100" cy="439674"/>
          </a:xfrm>
          <a:prstGeom prst="rect">
            <a:avLst/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9140" y="4896383"/>
            <a:ext cx="10713720" cy="2263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2"/>
              </a:lnSpc>
            </a:pPr>
            <a:r>
              <a:rPr sz="108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教學網站：</a:t>
            </a:r>
            <a:r>
              <a:rPr sz="108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https://kevintsai1202.github.io/ai-full-stack/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網站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966569"/>
            <a:ext cx="11094720" cy="523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18"/>
              </a:lnSpc>
            </a:pPr>
            <a:r>
              <a:rPr sz="312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影片可以無限次重複觀看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611526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3076346"/>
            <a:ext cx="3444240" cy="1127760"/>
          </a:xfrm>
          <a:prstGeom prst="roundRect">
            <a:avLst>
              <a:gd name="adj" fmla="val 8108"/>
            </a:avLst>
          </a:prstGeom>
          <a:solidFill>
            <a:srgbClr val="1B2542"/>
          </a:solidFill>
          <a:ln w="12700">
            <a:solidFill>
              <a:srgbClr val="7C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600" y="3213506"/>
            <a:ext cx="332232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6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第一遍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396386"/>
            <a:ext cx="332232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64"/>
              </a:lnSpc>
            </a:pPr>
            <a:r>
              <a:rPr sz="126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純看不操作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685946"/>
            <a:ext cx="332232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sz="9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先理解這一節在解決什麼問題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4320" y="3487826"/>
            <a:ext cx="1981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sz="1560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3076346"/>
            <a:ext cx="3444240" cy="1127760"/>
          </a:xfrm>
          <a:prstGeom prst="roundRect">
            <a:avLst>
              <a:gd name="adj" fmla="val 8108"/>
            </a:avLst>
          </a:prstGeom>
          <a:solidFill>
            <a:srgbClr val="1B2542"/>
          </a:solidFill>
          <a:ln w="12700">
            <a:solidFill>
              <a:srgbClr val="7C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34840" y="3213506"/>
            <a:ext cx="332232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6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第二遍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396386"/>
            <a:ext cx="332232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64"/>
              </a:lnSpc>
            </a:pPr>
            <a:r>
              <a:rPr sz="126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開著網站跟著做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685946"/>
            <a:ext cx="332232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sz="9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卡住就暫停，不用趕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487826"/>
            <a:ext cx="1981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sz="1560" b="0">
                <a:solidFill>
                  <a:srgbClr val="2C3A63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9120" y="3076346"/>
            <a:ext cx="3444240" cy="1127760"/>
          </a:xfrm>
          <a:prstGeom prst="roundRect">
            <a:avLst>
              <a:gd name="adj" fmla="val 8108"/>
            </a:avLst>
          </a:prstGeom>
          <a:solidFill>
            <a:srgbClr val="1B2542"/>
          </a:solidFill>
          <a:ln w="12700">
            <a:solidFill>
              <a:srgbClr val="7C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60080" y="3213506"/>
            <a:ext cx="332232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6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之後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3396386"/>
            <a:ext cx="332232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64"/>
              </a:lnSpc>
            </a:pPr>
            <a:r>
              <a:rPr sz="1260" b="1">
                <a:solidFill>
                  <a:srgbClr val="F4F7FF"/>
                </a:solidFill>
                <a:latin typeface="Microsoft JhengHei"/>
                <a:ea typeface="Microsoft JhengHei"/>
                <a:cs typeface="Microsoft JhengHei"/>
              </a:rPr>
              <a:t>只回放特定段落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0080" y="3685946"/>
            <a:ext cx="332232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95"/>
              </a:lnSpc>
            </a:pPr>
            <a:r>
              <a:rPr sz="90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其他時候直接查網站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02226"/>
            <a:ext cx="1109472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sz="15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沒有觀看期限。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看片方式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64258"/>
            <a:ext cx="11094720" cy="523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18"/>
              </a:lnSpc>
            </a:pPr>
            <a:r>
              <a:rPr sz="312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跟丟了怎麼辦？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409215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2813075"/>
            <a:ext cx="11094720" cy="615696"/>
          </a:xfrm>
          <a:prstGeom prst="roundRect">
            <a:avLst>
              <a:gd name="adj" fmla="val 14851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2813075"/>
            <a:ext cx="45720" cy="615696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965475"/>
            <a:ext cx="10683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48"/>
              </a:lnSpc>
            </a:pPr>
            <a:r>
              <a:rPr sz="1440" b="1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不要</a:t>
            </a:r>
            <a:r>
              <a:rPr sz="144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440" b="0">
                <a:solidFill>
                  <a:srgbClr val="FFB4AE"/>
                </a:solidFill>
                <a:latin typeface="Microsoft JhengHei"/>
                <a:ea typeface="Microsoft JhengHei"/>
                <a:cs typeface="Microsoft JhengHei"/>
              </a:rPr>
              <a:t>慌著暫停、倒帶、追進度——越追越亂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65931"/>
            <a:ext cx="11094720" cy="615696"/>
          </a:xfrm>
          <a:prstGeom prst="roundRect">
            <a:avLst>
              <a:gd name="adj" fmla="val 14851"/>
            </a:avLst>
          </a:prstGeom>
          <a:solidFill>
            <a:srgbClr val="13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3565931"/>
            <a:ext cx="45720" cy="615696"/>
          </a:xfrm>
          <a:prstGeom prst="rect">
            <a:avLst/>
          </a:prstGeom>
          <a:solidFill>
            <a:srgbClr val="57F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3718331"/>
            <a:ext cx="10683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48"/>
              </a:lnSpc>
            </a:pPr>
            <a:r>
              <a:rPr sz="144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要</a:t>
            </a:r>
            <a:r>
              <a:rPr sz="144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440" b="1">
                <a:solidFill>
                  <a:srgbClr val="BBF7D0"/>
                </a:solidFill>
                <a:latin typeface="Microsoft JhengHei"/>
                <a:ea typeface="Microsoft JhengHei"/>
                <a:cs typeface="Microsoft JhengHei"/>
              </a:rPr>
              <a:t>先把這一節看完，理解我在幹嘛，之後再回來慢慢做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01667"/>
            <a:ext cx="11094720" cy="439674"/>
          </a:xfrm>
          <a:prstGeom prst="roundRect">
            <a:avLst>
              <a:gd name="adj" fmla="val 17331"/>
            </a:avLst>
          </a:prstGeom>
          <a:solidFill>
            <a:srgbClr val="101A36"/>
          </a:solidFill>
          <a:ln w="12700">
            <a:solidFill>
              <a:srgbClr val="2C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4501667"/>
            <a:ext cx="38100" cy="439674"/>
          </a:xfrm>
          <a:prstGeom prst="rect">
            <a:avLst/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9140" y="4608347"/>
            <a:ext cx="10713720" cy="2263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2"/>
              </a:lnSpc>
            </a:pPr>
            <a:r>
              <a:rPr sz="108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我示範的節奏</a:t>
            </a:r>
            <a:r>
              <a:rPr sz="1080" b="1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一定</a:t>
            </a:r>
            <a:r>
              <a:rPr sz="108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比你自己動手快，這是正常的。你有無限次的機會。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看片方式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167"/>
            <a:ext cx="11094720" cy="523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118"/>
              </a:lnSpc>
            </a:pPr>
            <a:r>
              <a:rPr sz="312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接下來：把開發環境準備起來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30240" y="3205124"/>
            <a:ext cx="731520" cy="53340"/>
          </a:xfrm>
          <a:prstGeom prst="roundRect">
            <a:avLst>
              <a:gd name="adj" fmla="val 50000"/>
            </a:avLst>
          </a:prstGeom>
          <a:solidFill>
            <a:srgbClr val="7C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471824"/>
            <a:ext cx="11094720" cy="673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sz="15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而你會發現——</a:t>
            </a:r>
          </a:p>
          <a:p>
            <a:pPr algn="ctr">
              <a:lnSpc>
                <a:spcPts val="2652"/>
              </a:lnSpc>
            </a:pPr>
            <a:r>
              <a:rPr sz="156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連「安裝」這件事，我們都不打算自己一個一個做。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07480"/>
            <a:ext cx="12192000" cy="350520"/>
          </a:xfrm>
          <a:prstGeom prst="rect">
            <a:avLst/>
          </a:prstGeom>
          <a:solidFill>
            <a:srgbClr val="060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7CB8FF"/>
                </a:solidFill>
                <a:latin typeface="Microsoft JhengHei"/>
                <a:ea typeface="Microsoft JhengHei"/>
                <a:cs typeface="Microsoft JhengHei"/>
              </a:rPr>
              <a:t>收尾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606540"/>
            <a:ext cx="3048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8"/>
              </a:lnSpc>
            </a:pPr>
            <a:r>
              <a:rPr sz="840" b="0">
                <a:solidFill>
                  <a:srgbClr val="AEBFE0"/>
                </a:solidFill>
                <a:latin typeface="Microsoft JhengHei"/>
                <a:ea typeface="Microsoft JhengHei"/>
                <a:cs typeface="Microsoft Jheng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